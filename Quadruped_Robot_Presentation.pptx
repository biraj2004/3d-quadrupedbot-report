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554480"/>
            <a:ext cx="9994392" cy="3749039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600200"/>
            <a:ext cx="9902952" cy="3657600"/>
          </a:xfrm>
          <a:prstGeom prst="rect">
            <a:avLst/>
          </a:prstGeom>
          <a:solidFill>
            <a:srgbClr val="103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16916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QUADRUPED ROBOT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4231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2020"/>
                </a:solidFill>
              </a:rPr>
              <a:t>━━━━━━━━━━━━━━━━━━━━━━━━━━━━━━━━━━━━━━━━━━━━━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834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5C518"/>
                </a:solidFill>
              </a:rPr>
              <a:t>Certification-Based Industrial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918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DFF"/>
                </a:solidFill>
              </a:rPr>
              <a:t>WTL &amp; MeitY Project  |  Group-E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73075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Department of Electronics &amp; Communication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965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C518"/>
                </a:solidFill>
              </a:rPr>
              <a:t>Cooch Behar Government Engineering College  |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26364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CC"/>
                </a:solidFill>
              </a:rPr>
              <a:t>Guided by: Dr. Palash Das (HOD, ECE)  |  Mrs. Susmita Banik Barik (Project Eng., WTL)  |  Mr. Arijit Bhunia  |  Mr. Bhaskar Mondal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Team Members — Group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Department of ECE, CGEC  |  WTL &amp; MeitY Project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2/20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417320"/>
            <a:ext cx="530352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145389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1417320"/>
            <a:ext cx="4206240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1453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1417320"/>
            <a:ext cx="2423160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5389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Roll No.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417320"/>
            <a:ext cx="2423160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145389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Reg.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1819656"/>
            <a:ext cx="530352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" y="1856231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1819656"/>
            <a:ext cx="420624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1856231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Sarupya Guha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74920" y="1819656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1856231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34900323046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43800" y="1819656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1856231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FS08A0198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" y="2221992"/>
            <a:ext cx="53035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752" y="2258568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2221992"/>
            <a:ext cx="42062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22585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Sohan Ghosh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74920" y="2221992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225856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2221992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225856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FS08A0202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" y="2624328"/>
            <a:ext cx="530352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1752" y="2660904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2624328"/>
            <a:ext cx="420624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266090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Sayan Sarkar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4920" y="2624328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0" y="266090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34900323048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43800" y="2624328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89520" y="266090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FS08A0157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" y="3026664"/>
            <a:ext cx="53035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1752" y="306324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3026664"/>
            <a:ext cx="42062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306324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Debanjan Chakraborty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74920" y="3026664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0" y="306324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43800" y="3026664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9520" y="306324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FS08A0154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032" y="3429000"/>
            <a:ext cx="530352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346557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3429000"/>
            <a:ext cx="420624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8680" y="3465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Joydip Das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74920" y="3429000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20640" y="346557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43800" y="3429000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89520" y="346557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FS08A0220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6032" y="3831336"/>
            <a:ext cx="53035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01752" y="3867912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" y="3831336"/>
            <a:ext cx="42062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8680" y="386791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Aushi Sarkar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74920" y="3831336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20640" y="3867912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34900323011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43800" y="3831336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89520" y="3867912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FS08A0288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56032" y="4233672"/>
            <a:ext cx="530352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1752" y="4270248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2960" y="4233672"/>
            <a:ext cx="420624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" y="427024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Anupam Dutta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74920" y="4233672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20640" y="427024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34900323003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43800" y="4233672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89520" y="427024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FS08A0206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56032" y="4636008"/>
            <a:ext cx="53035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01752" y="4672584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2960" y="4636008"/>
            <a:ext cx="42062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" y="467258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Bikkram Das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74920" y="4636008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20640" y="467258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34900323012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543800" y="4636008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89520" y="467258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FS08A0528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56032" y="5038344"/>
            <a:ext cx="530352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1752" y="507492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9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2960" y="5038344"/>
            <a:ext cx="420624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8680" y="507492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Biraj Sarkar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74920" y="5038344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20640" y="50749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34900323013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543800" y="5038344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89520" y="50749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FS08A0239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1320" y="1417320"/>
            <a:ext cx="1508760" cy="484632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607040" y="1481328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GUIDED BY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625328" y="18013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Dr. Palash Das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625328" y="209397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HOD, ECE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25328" y="238658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25328" y="2679191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Mrs. Susmita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625328" y="29718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Banik Barik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625328" y="326440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Proj. Eng., WTL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625328" y="3557015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625328" y="384962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Mr. Arijit Bhunia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25328" y="414223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Proj. Co-ord.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625328" y="44348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25328" y="47274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Mr. Bhaskar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625328" y="502005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Mondal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25328" y="531266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Faculty, WTL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Project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What are we building and why?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3/20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Design, fabricate &amp; program a fully functional 8-DOF Quadruped Robot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8366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883664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Use affordable, open-source components and tools (ESP32 + FreeCAD + FDM printing)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30428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304288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Core hardware: ESP32 microcontroller  |  PCA9685 16-ch servo driver  |  9× MG90S servos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2491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724912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Chassis designed in FreeCAD — fabricated with FDM 3D printing (PLA+ &amp; PETG)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4553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145536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Hands-on experience across: Electronics  •  Mechanical Design  •  Additive Manufacturing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5661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66160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End goal: Robot capable of standing stably and executing a walking gait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8678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86784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Future roadmap: Sensor integration → Autonomous navigation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40740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407408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Aligned with GoI skills development initiative under WTL &amp; MeitY programme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Introduction — What is a Quadruped Robot?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4/20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A legged mobile robot that moves on four limbs — mimicking dogs, horses, insects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2938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929384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Unlike wheeled robots, quadrupeds navigate uneven terrain, climb stairs, step over obstacles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5000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50008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Each leg has 2+ joints providing degrees of freedom for stable gait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7063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770632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This robot: Hip joint + Knee joint per leg → 8 DOF for locomotion + 1 DOF head rotation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19125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191256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Notable examples: Boston Dynamics Spot  •  Unitree Go1  •  University research platforms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17720"/>
            <a:ext cx="2468880" cy="16002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663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518"/>
                </a:solidFill>
              </a:rPr>
              <a:t>8 DOF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285232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Locomotion
(4 hips + 4 knees)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4617720"/>
            <a:ext cx="2468880" cy="16002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39" y="4663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518"/>
                </a:solidFill>
              </a:rPr>
              <a:t>1 DOF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39" y="5285232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Head
Rotation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4617720"/>
            <a:ext cx="2468880" cy="16002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59" y="4663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518"/>
                </a:solidFill>
              </a:rPr>
              <a:t>9 Total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5285232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MG90S
Servos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3960" y="4617720"/>
            <a:ext cx="2468880" cy="16002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0" y="4663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518"/>
                </a:solidFill>
              </a:rPr>
              <a:t>3 Domains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85232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Electronics
Mechanical
3D Printing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Real-World Applications of Quadruped Robots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5/20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81328"/>
            <a:ext cx="5669280" cy="141732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5544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🔍 Search &amp; Rescue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93852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Navigates rubble, collapsed structures and disaster zones where wheels cannot 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35808"/>
            <a:ext cx="5669280" cy="141732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310896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⚙ Rough Terrain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49300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Pipeline inspection, mining surveys, and remote area monitoring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590288"/>
            <a:ext cx="5669280" cy="141732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466344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🎖 Military / Defence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504748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Cargo carrying, reconnaissance missions, and hazardous environment scouting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481328"/>
            <a:ext cx="5669280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8" y="15544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🏥 Medical / Rehab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193852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Companion and assistive robots for elderly care and rehabilitation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035808"/>
            <a:ext cx="5669280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310896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🔬 Research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349300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Studying locomotion algorithms, control theory, and AI-based navigation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4590288"/>
            <a:ext cx="5669280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466344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🏭 Industrial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8" y="504748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Automated factory floor inspection and infrastructure monitoring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ESP32?  &amp;  Why 3D Printing?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6/20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5486400" cy="4572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6304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ESP32 — Central 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Dual-core 240 MHz processor — powerful yet low-cost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95728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395728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Built-in Wi-Fi &amp; Bluetooth for wireless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82549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25496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Supports I2C and SPI for peripheral communication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255263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55263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Well-supported Arduino IDE ecosystem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685031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685031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ESP32Servo library — direct servo control via PWM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148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114800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Wireless capability → OTA updates, remote teleoperation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1417320"/>
            <a:ext cx="5486400" cy="4572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46304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3D Printing — Chassis Fabrication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1965960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Rapid iteration on part dimensions without tooling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95728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2395728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Customised mounting positions for every component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82549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2825496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Fabricate geometrically complex parts cheaply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255263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255263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PLA+ → structural rigidity for Core Plate &amp; Head Box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685031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685031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PETG → flexibility &amp; impact resistance for leg links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1148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114800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Entire robot chassis printed in the CGEC 3D Printing Lab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417320"/>
            <a:ext cx="54864" cy="50292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Development Roadmap — 9-Phase Journey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From component verification to autonomous navigation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7/20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11680"/>
            <a:ext cx="1170432" cy="1828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Servo &amp;
MCU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45336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45919" y="2011680"/>
            <a:ext cx="1170432" cy="1828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82495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495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CAD
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2495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Complete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25496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79" y="2011680"/>
            <a:ext cx="1170432" cy="1828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62656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62656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3D
Printing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2656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Complete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05655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2011680"/>
            <a:ext cx="1170432" cy="1828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42816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2816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Assembly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2816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5816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2011680"/>
            <a:ext cx="1170432" cy="1828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22976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22976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Standing
Pose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22976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Complete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5976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6560" y="2011680"/>
            <a:ext cx="1170432" cy="1828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03136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03136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Walking
Gait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3136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In Progress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46136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19" y="2011680"/>
            <a:ext cx="1170432" cy="1828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83295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3295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Turning
Gait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3295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26295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26880" y="2011680"/>
            <a:ext cx="1170432" cy="1828800"/>
          </a:xfrm>
          <a:prstGeom prst="rect">
            <a:avLst/>
          </a:prstGeom>
          <a:solidFill>
            <a:srgbClr val="C03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63455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63455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Sensor
Integration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63455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Future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06455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07040" y="2011680"/>
            <a:ext cx="1170432" cy="1828800"/>
          </a:xfrm>
          <a:prstGeom prst="rect">
            <a:avLst/>
          </a:prstGeom>
          <a:solidFill>
            <a:srgbClr val="C03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43615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43615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Autonomous
Nav.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43615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Future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160520"/>
            <a:ext cx="320040" cy="2743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41605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Complete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4160520"/>
            <a:ext cx="32004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66160" y="41605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In Progress / Planned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4160520"/>
            <a:ext cx="320040" cy="274320"/>
          </a:xfrm>
          <a:prstGeom prst="rect">
            <a:avLst/>
          </a:prstGeom>
          <a:solidFill>
            <a:srgbClr val="C03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66560" y="41605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Future Roadmap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46177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02020"/>
                </a:solidFill>
              </a:rPr>
              <a:t>📌  This report covers Phases 1–5 in detail.  Phases 6–9 form the future roadmap.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Electronics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4-Layer electronics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8/20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463040"/>
            <a:ext cx="7772400" cy="86868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Layer 1 — Central 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874520"/>
            <a:ext cx="7589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ESP32 Dev Board  (I2C Master, Dual-core 240 MHz)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350008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B55"/>
                </a:solidFill>
              </a:rPr>
              <a:t>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50592"/>
            <a:ext cx="7772400" cy="868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496312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Layer 2 — Servo Driver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62072"/>
            <a:ext cx="7589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PCA9685  16-Channel PWM Driver  (I2C Slave @ 0x40)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337560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B55"/>
                </a:solidFill>
              </a:rPr>
              <a:t>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38144"/>
            <a:ext cx="7772400" cy="86868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83864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Layer 3 — Actuators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849624"/>
            <a:ext cx="7589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9× MG90S Metal Gear Micro Servos  (4 Hip + 4 Knee + 1 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325112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B55"/>
                </a:solidFill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25696"/>
            <a:ext cx="7772400" cy="868680"/>
          </a:xfrm>
          <a:prstGeom prst="rect">
            <a:avLst/>
          </a:prstGeom>
          <a:solidFill>
            <a:srgbClr val="277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471416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Layer 4 — Power Supply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837176"/>
            <a:ext cx="7589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External 5V Supply  →  PCA9685 V+ Servo Rail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1463040"/>
            <a:ext cx="342900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149047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ESP32 → PCA9685 Wiring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1874519"/>
            <a:ext cx="1709928" cy="329184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149840" y="1874519"/>
            <a:ext cx="1691640" cy="329184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1911095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ESP32 Pin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911095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PCA9685 Pin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0" y="2221991"/>
            <a:ext cx="1709928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49840" y="2221991"/>
            <a:ext cx="16916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2258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3.3V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58568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VCC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0" y="2569463"/>
            <a:ext cx="1709928" cy="329184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49840" y="2569463"/>
            <a:ext cx="1691640" cy="329184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8200" y="2606039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GND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606039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GND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2916936"/>
            <a:ext cx="1709928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149840" y="2916936"/>
            <a:ext cx="16916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29535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GPIO21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29535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SDA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0" y="3264408"/>
            <a:ext cx="1709928" cy="329184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49840" y="3264408"/>
            <a:ext cx="1691640" cy="329184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58200" y="330098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GPIO22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5560" y="330098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SCL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3675887"/>
            <a:ext cx="3429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2020"/>
                </a:solidFill>
              </a:rPr>
              <a:t>⚠  PCA9685 V+ rail MUST have
an external 5V supply (separate from VCC)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Servo Channel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PCA9685 CH0–CH8 → 9 MG90S servos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9/20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463040"/>
            <a:ext cx="914400" cy="74980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1508760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1463040"/>
            <a:ext cx="466344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19" y="151790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Front Left 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184708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528C"/>
                </a:solidFill>
              </a:rPr>
              <a:t>Type: Hip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331720"/>
            <a:ext cx="914400" cy="7498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2377439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5880" y="2331720"/>
            <a:ext cx="466344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19" y="238658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Front Left Knee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71576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Type: Knee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00400"/>
            <a:ext cx="914400" cy="74980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3246120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5880" y="3200400"/>
            <a:ext cx="466344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19" y="325526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Front Right Hip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8444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528C"/>
                </a:solidFill>
              </a:rPr>
              <a:t>Type: Hip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69079"/>
            <a:ext cx="914400" cy="7498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4114799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4069079"/>
            <a:ext cx="466344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7319" y="412394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Front Right Knee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53127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Type: Knee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937760"/>
            <a:ext cx="914400" cy="74980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4983480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25880" y="4937760"/>
            <a:ext cx="466344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17319" y="499262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Rear Left Hip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32180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528C"/>
                </a:solidFill>
              </a:rPr>
              <a:t>Type: 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1463040"/>
            <a:ext cx="914400" cy="7498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1508760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9480" y="1463040"/>
            <a:ext cx="466344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60920" y="151790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Rear Left Knee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0920" y="184708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Type: Knee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331720"/>
            <a:ext cx="914400" cy="74980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2377439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69480" y="2331720"/>
            <a:ext cx="466344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60920" y="238658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Rear Right Hip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60920" y="271576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528C"/>
                </a:solidFill>
              </a:rPr>
              <a:t>Type: Hip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3200400"/>
            <a:ext cx="914400" cy="7498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45936" y="3246120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69480" y="3200400"/>
            <a:ext cx="466344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60920" y="325526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Rear Right Knee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358444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Type: Knee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069079"/>
            <a:ext cx="914400" cy="749808"/>
          </a:xfrm>
          <a:prstGeom prst="rect">
            <a:avLst/>
          </a:prstGeom>
          <a:solidFill>
            <a:srgbClr val="277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4114799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69480" y="4069079"/>
            <a:ext cx="466344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60920" y="412394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Head Rotation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20" y="4453127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7E4A"/>
                </a:solidFill>
              </a:rPr>
              <a:t>Type: Head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897880"/>
            <a:ext cx="320040" cy="25603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9808" y="5897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Hip Servo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897880"/>
            <a:ext cx="320040" cy="256032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27248" y="5897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Knee Servo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0" y="5897880"/>
            <a:ext cx="320040" cy="256032"/>
          </a:xfrm>
          <a:prstGeom prst="rect">
            <a:avLst/>
          </a:prstGeom>
          <a:solidFill>
            <a:srgbClr val="277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04688" y="5897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Head Servo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Critical Discovery — Servo Power Rail Issue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Real-world debugging experience during Phase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10/20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44752"/>
            <a:ext cx="2286000" cy="7498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72768"/>
            <a:ext cx="21762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⚠  SYMPTOM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1444752"/>
            <a:ext cx="91897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17904"/>
            <a:ext cx="9006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All 9 servos were completely unresponsive when controlled via PCA9685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340864"/>
            <a:ext cx="2286000" cy="74980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468880"/>
            <a:ext cx="21762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🔍  I2C DIAGNOSIS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2340864"/>
            <a:ext cx="91897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2414016"/>
            <a:ext cx="9006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I2C scanner confirmed PCA9685 at address 0x40 — ESP32, I2C bus, and chip all functioning correctly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236976"/>
            <a:ext cx="2286000" cy="749808"/>
          </a:xfrm>
          <a:prstGeom prst="rect">
            <a:avLst/>
          </a:prstGeom>
          <a:solidFill>
            <a:srgbClr val="B8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3364992"/>
            <a:ext cx="21762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🔎  ROOT CAUSE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0" y="3236976"/>
            <a:ext cx="91897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0" y="3310128"/>
            <a:ext cx="9006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V+ rail measured only 0.10 V (expected 4.8–5.2 V) — servo power rail NOT connected to external 5V supply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133087"/>
            <a:ext cx="2286000" cy="7498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4261103"/>
            <a:ext cx="21762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✅  RESOLUTION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4133087"/>
            <a:ext cx="91897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4206240"/>
            <a:ext cx="9006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Connected 5V directly to PCA9685 V+ terminal → Servos responded immediately. V+ measured 4.92–5.05 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029200"/>
            <a:ext cx="2286000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5157216"/>
            <a:ext cx="21762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📖  LESSON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1760" y="5029200"/>
            <a:ext cx="91897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0" y="5102352"/>
            <a:ext cx="9006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Always verify servo rail voltage FIRST before suspecting firmware or I2C communication issues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Mechanical Architecture &amp; Component Dimensions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FreeCAD-designed chassis — all parts 3D printed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11/20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566928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44475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Structural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74519"/>
            <a:ext cx="228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874519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Two main assemblies: Head Box (electronics enclosure) + Core Plate (central chassis)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228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Head Box — houses ESP32, PCA9685, power switch + future sensor mount provision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697479"/>
            <a:ext cx="228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697479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Core Plate — mounts all 4 hip servos + 1 head servo (5 total on chassis)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60"/>
            <a:ext cx="228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089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Each leg: Upper Leg (hip-driven) + Lower Leg (knee-driven) → 2 links per leg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417320"/>
            <a:ext cx="562356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1444752"/>
            <a:ext cx="5532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Component Dimensions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847088"/>
            <a:ext cx="1965960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2783" y="1892807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1847088"/>
            <a:ext cx="1600200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892807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Dimensions (mm)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20" y="1847088"/>
            <a:ext cx="2880360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30384" y="1892807"/>
            <a:ext cx="2788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276856"/>
            <a:ext cx="19659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3" y="2322576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Core Plate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2276856"/>
            <a:ext cx="1600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2322576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110 × 85 × 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75520" y="2276856"/>
            <a:ext cx="28803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0384" y="2322576"/>
            <a:ext cx="2788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 hip mounts + 1 head servo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706624"/>
            <a:ext cx="19659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72783" y="2752344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Head Box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2706624"/>
            <a:ext cx="160020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84464" y="275234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85 × 65 × 45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20" y="2706624"/>
            <a:ext cx="28803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4" y="2752344"/>
            <a:ext cx="2788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Wall 2.5 mm — ESP32, PCA9685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136391"/>
            <a:ext cx="19659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72783" y="3182111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Upper Leg ×4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3136391"/>
            <a:ext cx="1600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84464" y="3182111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45 × 10 × 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3136391"/>
            <a:ext cx="28803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30384" y="3182111"/>
            <a:ext cx="2788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PETG — hip servo driven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3566160"/>
            <a:ext cx="19659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2783" y="3611879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Lower Leg ×4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3566160"/>
            <a:ext cx="160020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84464" y="3611879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55 × 10 × 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75520" y="3566160"/>
            <a:ext cx="28803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30384" y="3611879"/>
            <a:ext cx="2788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PETG — knee servo driven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3995927"/>
            <a:ext cx="19659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72783" y="4041647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Servo Mount×9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0" y="3995927"/>
            <a:ext cx="1600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84464" y="4041647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Custom press-fit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75520" y="3995927"/>
            <a:ext cx="28803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30384" y="4041647"/>
            <a:ext cx="2788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PLA+ — MG90S body fit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FreeCAD Design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Part Design workbench — parametric modelling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12/20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46304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173736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1463040"/>
            <a:ext cx="5166360" cy="10241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51790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Core Plate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188366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 110×85×4 mm plate with 4 symmetric hip servo pockets and central head servo mount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292608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2651760"/>
            <a:ext cx="5166360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706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Head Servo Mount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7238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Centred on Core Plate; controls head rotation via MG90S (CH8)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411480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3840480"/>
            <a:ext cx="5166360" cy="10241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89534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Hip Servo Mounts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26110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Four symmetric press-fit pockets at FL, FR, RL, RR corners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02920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530352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5029200"/>
            <a:ext cx="5166360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50840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Upper Leg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44982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45 mm PETG link with servo horn connection hole at proximal end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146304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1656" y="173736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1463040"/>
            <a:ext cx="5166360" cy="10241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0" y="151790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Lower Leg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188366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55 mm PETG link with foot pad boss at distal (terminal) end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65176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91656" y="292608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2651760"/>
            <a:ext cx="5166360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2706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Head Box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307238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Enclosure designed around ESP32 and PCA9685 PCB footprints (85×65×45 mm)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84048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91656" y="411480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3840480"/>
            <a:ext cx="5166360" cy="10241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0880" y="389534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Assembly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26110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All bodies assembled in FreeCAD Assembly with correct spacing and constraints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3D Printing Process — FDM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CAD → STL → G-code → Print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13/20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11521440" cy="64008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46304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Fused Deposition Modelling (FDM): thermoplastic filament melted &amp; deposited layer-by-layer | Workflow: CAD Model → STL Export → Slicer (G-code) → 3D Printer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48840"/>
            <a:ext cx="553212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2176272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Material Selection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606040"/>
            <a:ext cx="1097280" cy="80467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78892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C518"/>
                </a:solidFill>
              </a:rPr>
              <a:t>PLA+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2606040"/>
            <a:ext cx="438912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2642616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Core Plate, Head Box, Servo Mounts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026664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High stiffness, low warping, easy to print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538728"/>
            <a:ext cx="1097280" cy="80467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3721608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C518"/>
                </a:solidFill>
              </a:rPr>
              <a:t>PETG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3538728"/>
            <a:ext cx="438912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54480" y="3575304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Upper Leg, Lower Leg (×4 each)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959352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Toughness &amp; flexibility for repeated bending/impact loads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48840"/>
            <a:ext cx="562356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2176272"/>
            <a:ext cx="5532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Slicer Settings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578608"/>
            <a:ext cx="3383280" cy="36576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46920" y="2578608"/>
            <a:ext cx="2194560" cy="36576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91072" y="2624327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0928" y="2624327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962656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46920" y="2962656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91072" y="3008375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Layer Height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10928" y="3008375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0.2 mm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3346703"/>
            <a:ext cx="338328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46920" y="3346703"/>
            <a:ext cx="219456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1072" y="3392423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Infill Density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10928" y="3392423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40%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3730752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46920" y="3730752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91072" y="3776472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Perimeter Walls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0928" y="3776472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4114800"/>
            <a:ext cx="338328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46920" y="4114800"/>
            <a:ext cx="219456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91072" y="416052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Nozzle Diameter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10928" y="416052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0.4 mm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4498848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646920" y="4498848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91072" y="454456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Print Speed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10928" y="4544568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50 mm/s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4882896"/>
            <a:ext cx="338328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646920" y="4882896"/>
            <a:ext cx="219456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91072" y="4928616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Support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10928" y="4928616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As required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Products Made — 3D Printed Parts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19 total printed components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14/20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63040"/>
            <a:ext cx="146304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9" y="149047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1463040"/>
            <a:ext cx="137160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74519" y="1490472"/>
            <a:ext cx="1298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Material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1463040"/>
            <a:ext cx="178308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39" y="1490472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Dimensions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1463040"/>
            <a:ext cx="59436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490472"/>
            <a:ext cx="5212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0" y="1463040"/>
            <a:ext cx="617220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1490472"/>
            <a:ext cx="6099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892807"/>
            <a:ext cx="146304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904" y="1984248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Core Plate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1892807"/>
            <a:ext cx="137160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83664" y="1984248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2020"/>
                </a:solidFill>
              </a:rPr>
              <a:t>PLA+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6120" y="1892807"/>
            <a:ext cx="178308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00984" y="1984248"/>
            <a:ext cx="1691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110×85×4 mm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4920" y="1892807"/>
            <a:ext cx="59436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9783" y="1984248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0" y="1892807"/>
            <a:ext cx="617220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9864" y="1984248"/>
            <a:ext cx="6080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Central chassis; 4 hip mounts + 1 head servo mount; 4mm thickness for bending rigidity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761487"/>
            <a:ext cx="146304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" y="2852927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Head Box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0" y="2761487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83664" y="2852927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2020"/>
                </a:solidFill>
              </a:rPr>
              <a:t>PLA+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20" y="2761487"/>
            <a:ext cx="17830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00984" y="2852927"/>
            <a:ext cx="1691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85×65×45 mm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74920" y="2761487"/>
            <a:ext cx="5943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9783" y="2852927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15000" y="2761487"/>
            <a:ext cx="61722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9864" y="2852927"/>
            <a:ext cx="6080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Electronics enclosure for ESP32, PCA9685 &amp; power switch; 2.5mm walls; future sensor provision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630168"/>
            <a:ext cx="146304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904" y="3721607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Upper Leg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0" y="3630168"/>
            <a:ext cx="137160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883664" y="3721607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76B47"/>
                </a:solidFill>
              </a:rPr>
              <a:t>PETG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46120" y="3630168"/>
            <a:ext cx="178308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00984" y="3721607"/>
            <a:ext cx="1691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45×10×5 mm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74920" y="3630168"/>
            <a:ext cx="59436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9783" y="3721607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15000" y="3630168"/>
            <a:ext cx="617220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9864" y="3721607"/>
            <a:ext cx="6080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Hip-servo driven link; servo horn attachment hole at proximal end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4498848"/>
            <a:ext cx="146304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4904" y="4590288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Lower Leg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0" y="4498848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83664" y="4590288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76B47"/>
                </a:solidFill>
              </a:rPr>
              <a:t>PETG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46120" y="4498848"/>
            <a:ext cx="17830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00984" y="4590288"/>
            <a:ext cx="1691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55×10×5 mm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74920" y="4498848"/>
            <a:ext cx="5943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29783" y="4590288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15000" y="4498848"/>
            <a:ext cx="61722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69864" y="4590288"/>
            <a:ext cx="6080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Knee-servo driven link; foot pad boss at distal terminal end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367527"/>
            <a:ext cx="146304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4904" y="5458967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Servo Mount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828800" y="5367527"/>
            <a:ext cx="137160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883664" y="5458967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2020"/>
                </a:solidFill>
              </a:rPr>
              <a:t>PLA+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46120" y="5367527"/>
            <a:ext cx="178308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300984" y="5458967"/>
            <a:ext cx="1691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Custom fit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74920" y="5367527"/>
            <a:ext cx="59436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29783" y="5458967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715000" y="5367527"/>
            <a:ext cx="617220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769864" y="5458967"/>
            <a:ext cx="6080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Press-fit housing for MG90S servo body; one per servo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Arduino Programming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Arduino IDE + ESP32 board support package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15/20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530352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4447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Development Environment &amp; Libraries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874519"/>
            <a:ext cx="2286000" cy="5669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929384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ESP32Servo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1874519"/>
            <a:ext cx="2971800" cy="5669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24912" y="1947672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Direct servo control via GPIO PWM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532887"/>
            <a:ext cx="2286000" cy="5669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587752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Wire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2532887"/>
            <a:ext cx="29718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24912" y="2606039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I2C communication for PCA9685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191256"/>
            <a:ext cx="2286000" cy="5669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46120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Adafruit_PWMServoDriver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3191256"/>
            <a:ext cx="2971800" cy="5669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24912" y="3264408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High-level PCA9685 servo control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023360"/>
            <a:ext cx="530352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4050791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Code Listings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480560"/>
            <a:ext cx="109728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4507992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Listing 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63040" y="4480560"/>
            <a:ext cx="416052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6192" y="4507992"/>
            <a:ext cx="4005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Servo Test Code:  Direct GPIO18 sweep — 0° → 90° → 180° per servo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910328"/>
            <a:ext cx="109728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" y="4937759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Listing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4910328"/>
            <a:ext cx="4160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536192" y="4937759"/>
            <a:ext cx="4005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PCA9685 I2C Scanner:  Scans I2C bus, confirms address 0x40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340096"/>
            <a:ext cx="109728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5367527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Listing 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63040" y="5340096"/>
            <a:ext cx="416052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6192" y="5367527"/>
            <a:ext cx="4005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I2C Scan Output:  Expected serial monitor: 'I2C device found at 0x40'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769864"/>
            <a:ext cx="109728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" y="5797296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Listing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63040" y="5769864"/>
            <a:ext cx="4160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36192" y="5797296"/>
            <a:ext cx="4005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PCA9685 Servo Control:  All-channel sweep through Adafruit PWM library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1417320"/>
            <a:ext cx="5833872" cy="4846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26480" y="1463040"/>
            <a:ext cx="5650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A9F55"/>
                </a:solidFill>
              </a:rPr>
              <a:t>// Servo Test Code — ESP32 direct GPIO18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44768" y="1874519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5786B"/>
                </a:solidFill>
              </a:rPr>
              <a:t>#include &lt;ESP32Servo.h&gt;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217627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44768" y="2478024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CBFF"/>
                </a:solidFill>
              </a:rPr>
              <a:t>Servo myServo;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44768" y="2779776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44768" y="308152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DDAA"/>
                </a:solidFill>
              </a:rPr>
              <a:t>void setup() {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44768" y="338328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  myServo.attach(18);  // GPIO18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44768" y="3685031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DDAA"/>
                </a:solidFill>
              </a:rPr>
              <a:t>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3986783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4288536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DDAA"/>
                </a:solidFill>
              </a:rPr>
              <a:t>void loop() {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4768" y="459028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  myServo.write(0);    delay(1000);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44768" y="489204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  myServo.write(90);   delay(1000);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519379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  myServo.write(180);  delay(1000);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44768" y="5495544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DDAA"/>
                </a:solidFill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 &amp; 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I2C verification  ·  Power rail  ·  All-servo sweep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16/20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539496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44475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I2C Communication Verification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856231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PCA9685 confirmed at address 0x40 via I2C scanner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25856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Full chain validated: ESP32 → GPIO21/22 → SDA/SCL → PCA9685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788920"/>
            <a:ext cx="539496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81635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Power Rail Diagnosis &amp; Resolution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32461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2020"/>
                </a:solidFill>
              </a:rPr>
              <a:t>Before fix:  V+ = 0.10 V  (expected 4.8–5.2 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62102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8B4C"/>
                </a:solidFill>
              </a:rPr>
              <a:t>After fix:   V+ = 4.92–5.05 V  →  All servos responded immediately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417320"/>
            <a:ext cx="5833872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9048" y="1444752"/>
            <a:ext cx="5742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Individual Servo Test Results (All 9 Passed)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847088"/>
            <a:ext cx="475488" cy="34747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1874519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1847088"/>
            <a:ext cx="3291840" cy="34747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1874519"/>
            <a:ext cx="3236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Function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57232" y="1847088"/>
            <a:ext cx="768096" cy="34747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93807" y="1874519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652760" y="1847088"/>
            <a:ext cx="768096" cy="34747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89336" y="1874519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180°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2231136"/>
            <a:ext cx="475488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71616" y="2286000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2231136"/>
            <a:ext cx="3291840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92824" y="2286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Front Left Hip (CH0)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57232" y="2231136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93807" y="228600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2231136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89336" y="228600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51760"/>
            <a:ext cx="47548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71616" y="2706624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37960" y="2651760"/>
            <a:ext cx="3291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92824" y="27066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Front Left Knee (CH1)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57232" y="2651760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93807" y="270662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652760" y="2651760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89336" y="270662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35040" y="3072384"/>
            <a:ext cx="475488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71616" y="3127248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3072384"/>
            <a:ext cx="3291840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92824" y="3127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Front Right Hip (CH2)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857232" y="3072384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93807" y="312724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52760" y="3072384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89336" y="312724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0" y="3493008"/>
            <a:ext cx="47548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71616" y="3547872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37960" y="3493008"/>
            <a:ext cx="3291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92824" y="35478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Front Right Knee (CH3)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57232" y="3493008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93807" y="354787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52760" y="3493008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689336" y="354787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913632"/>
            <a:ext cx="475488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71616" y="3968496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37960" y="3913632"/>
            <a:ext cx="3291840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92824" y="396849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Rear Left Hip (CH4)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57232" y="3913632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93807" y="396849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652760" y="3913632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89336" y="396849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35040" y="4334256"/>
            <a:ext cx="47548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71616" y="4389120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4334256"/>
            <a:ext cx="3291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92824" y="4389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Rear Left Knee (CH5)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57232" y="4334256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893807" y="438912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652760" y="4334256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689336" y="438912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754880"/>
            <a:ext cx="475488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71616" y="4809744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7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4754880"/>
            <a:ext cx="3291840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92824" y="48097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Rear Right Hip (CH6)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857232" y="4754880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93807" y="480974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52760" y="4754880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89336" y="480974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035040" y="5175504"/>
            <a:ext cx="47548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071616" y="5230368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8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537960" y="5175504"/>
            <a:ext cx="3291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592824" y="5230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Rear Right Knee (CH7)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857232" y="5175504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893807" y="523036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652760" y="5175504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689336" y="523036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035040" y="5596128"/>
            <a:ext cx="475488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071616" y="5650992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9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537960" y="5596128"/>
            <a:ext cx="3291840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592824" y="56509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Head Rotation (CH8)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857232" y="5596128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893807" y="565099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652760" y="5596128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689336" y="565099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Development Phase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Current progress across all 9 phases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17/20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63040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627632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" y="1463040"/>
            <a:ext cx="37033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152704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Component Verification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7" y="1463040"/>
            <a:ext cx="1371600" cy="7498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1645920"/>
            <a:ext cx="13167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59152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523744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" y="2359152"/>
            <a:ext cx="37033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242316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CAD Design in FreeCAD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7" y="2359152"/>
            <a:ext cx="1371600" cy="7498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542032"/>
            <a:ext cx="13167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255264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3419856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" y="3255264"/>
            <a:ext cx="37033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7" y="3319272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3D Printing All Parts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36007" y="3255264"/>
            <a:ext cx="1371600" cy="7498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3438144"/>
            <a:ext cx="13167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151376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315968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6112" y="4151376"/>
            <a:ext cx="37033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7" y="421538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Servo Calibration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7" y="4151376"/>
            <a:ext cx="1371600" cy="7498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63440" y="4334256"/>
            <a:ext cx="13167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047488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5212079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6112" y="5047488"/>
            <a:ext cx="37033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407" y="5111496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Standing Pose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6007" y="5047488"/>
            <a:ext cx="1371600" cy="7498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63440" y="5230368"/>
            <a:ext cx="13167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59" y="1463040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6792" y="1627632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85431" y="1463040"/>
            <a:ext cx="37033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67727" y="152704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Walking Gait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25328" y="1463040"/>
            <a:ext cx="1371600" cy="74980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52759" y="1645920"/>
            <a:ext cx="13167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59" y="2359152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36792" y="2523744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85431" y="2359152"/>
            <a:ext cx="37033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67727" y="242316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Turning Gait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25328" y="2359152"/>
            <a:ext cx="1371600" cy="74980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52759" y="2542032"/>
            <a:ext cx="13167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Planned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59" y="3255264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6792" y="3419856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85431" y="3255264"/>
            <a:ext cx="37033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67727" y="3319272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Sensor Integration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625328" y="3255264"/>
            <a:ext cx="1371600" cy="74980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652759" y="3438144"/>
            <a:ext cx="13167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Planned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59" y="4151376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36792" y="4315968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85431" y="4151376"/>
            <a:ext cx="37033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67727" y="421538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Autonomous Navigation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625328" y="4151376"/>
            <a:ext cx="1371600" cy="7498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52759" y="4334256"/>
            <a:ext cx="13167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Future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989320"/>
            <a:ext cx="11521440" cy="5029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20040" y="5989320"/>
            <a:ext cx="6400800" cy="5029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0" y="601675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55% Complete  (5 of 9 Phases)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Key achievements and future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18/20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81328"/>
            <a:ext cx="2286000" cy="86868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64208"/>
            <a:ext cx="21762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</a:rPr>
              <a:t>Electronics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1481328"/>
            <a:ext cx="9189720" cy="86868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54480"/>
            <a:ext cx="9006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Systematic debugging validated: I2C chain, servo power rail fix, all 9 servos operational across full 0°–180° range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505456"/>
            <a:ext cx="2286000" cy="86868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688336"/>
            <a:ext cx="21762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</a:rPr>
              <a:t>Mechanical Design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2505456"/>
            <a:ext cx="91897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2578608"/>
            <a:ext cx="9006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Parametric FreeCAD CAD workflow mastered: servo mounts, press-fit tolerances, STL export → design-for-manufacture skills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529584"/>
            <a:ext cx="2286000" cy="86868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3712464"/>
            <a:ext cx="21762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</a:rPr>
              <a:t>3D Printing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0" y="3529584"/>
            <a:ext cx="9189720" cy="86868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0" y="3602736"/>
            <a:ext cx="9006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Hands-on material selection (PLA+ vs PETG), slicer optimisation, and print quality assessment in CGEC Lab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553712"/>
            <a:ext cx="2286000" cy="86868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4736592"/>
            <a:ext cx="21762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</a:rPr>
              <a:t>Overall Platform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4553712"/>
            <a:ext cx="91897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4626864"/>
            <a:ext cx="9006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Fully functional 8-DOF quadruped hardware + software stack built — validated foundation for walking gait development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577840"/>
            <a:ext cx="11521440" cy="50292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623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🚀  Roadmap:  Phase 6 Walking Gait (IK)  →  Phase 7 Turning  →  Phase 8 Sensors  →  Phase 9 Autonomous Navigation via ESP32 Wi-Fi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19/20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508760"/>
            <a:ext cx="731520" cy="6858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1664207"/>
            <a:ext cx="676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[1]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1508760"/>
            <a:ext cx="10744200" cy="6858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160020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Previous Batch Project Report — 3D Printing and Embedded Systems, CGEC Dept. of ECE, WTL &amp; MeitY Project, Cooch Behar, West Bengal, 2024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331720"/>
            <a:ext cx="731520" cy="6858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87168"/>
            <a:ext cx="676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[2]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2331720"/>
            <a:ext cx="10744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242316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Espressif Systems, ESP32 Technical Reference Manual, v5.3, Espressif Systems, 2024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154680"/>
            <a:ext cx="731520" cy="6858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3310128"/>
            <a:ext cx="676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[3]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154680"/>
            <a:ext cx="10744200" cy="6858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24612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NXP Semiconductors, PCA9685 16-channel 12-bit PWM I2C-bus LED controller, Product datasheet Rev. 4, NXP, 2015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977639"/>
            <a:ext cx="731520" cy="6858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4133087"/>
            <a:ext cx="676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[4]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3977639"/>
            <a:ext cx="10744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4069079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Tower Pro, MG90S Metal Gear Micro Servo Datasheet, Tower Pro Co. Ltd., 2020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800600"/>
            <a:ext cx="731520" cy="6858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4956048"/>
            <a:ext cx="676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[5]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4800600"/>
            <a:ext cx="10744200" cy="6858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89204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FreeCAD Community, FreeCAD: Your Own 3D Parametric Modeler, https://www.freecad.org, 2024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94392" cy="32004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874519"/>
            <a:ext cx="9902952" cy="3108960"/>
          </a:xfrm>
          <a:prstGeom prst="rect">
            <a:avLst/>
          </a:prstGeom>
          <a:solidFill>
            <a:srgbClr val="103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9260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2020"/>
                </a:solidFill>
              </a:rPr>
              <a:t>━━━━━━━━━━━━━━━━━━━━━━━━━━━━━━━━━━━━━━━━━━━━━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3375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C518"/>
                </a:solidFill>
              </a:rPr>
              <a:t>Quadruped Robot Development  |  Group-E  |  CGEC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7490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</a:rPr>
              <a:t>WTL &amp; MeitY Industrial Training Programme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Guided by:  Dr. Palash Das  ·  Mrs. Susmita Banik Barik  ·  Mr. Arijit Bhunia  ·  Mr. Bhaskar Mondal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
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230755"/>
            <a:ext cx="9994392" cy="3749039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2276475"/>
            <a:ext cx="9902952" cy="365760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367915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QUADRUPED ROBOT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9943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</a:rPr>
              <a:t>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10915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C518"/>
                </a:solidFill>
              </a:rPr>
              <a:t>Certification-Based Industrial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968115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FF"/>
                </a:solidFill>
              </a:rPr>
              <a:t>WTL &amp; MeitY Project  |  Group-E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0702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Department of Electronics &amp;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7278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C518"/>
                </a:solidFill>
              </a:rPr>
              <a:t>Cooch Behar Government Engineering College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63640"/>
            <a:ext cx="12188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0" dirty="0"/>
              <a:t>Guided by: Dr. Palash Das (ECE)  |  Mrs. Susmita Banik Barik (Project Eng., WTL)  |  Mr. Arijit Bhunia  |  Mr. Bhaskar Mondal</a:t>
            </a:r>
          </a:p>
        </p:txBody>
      </p:sp>
      <p:pic>
        <p:nvPicPr>
          <p:cNvPr id="14" name="Picture 13" descr="CGEC-Logo-colorf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083" y="200908"/>
            <a:ext cx="1944657" cy="1944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Team Members — Group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Department of ECE, CGEC  |  WTL &amp; MeitY Project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2/21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17320"/>
            <a:ext cx="530352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" y="145389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417320"/>
            <a:ext cx="420624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453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417320"/>
            <a:ext cx="24231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4538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Roll 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417320"/>
            <a:ext cx="24231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4538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Reg.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819656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1856231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1819656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18562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Sarupya Guha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1819656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18562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1819656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185623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221992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" y="225856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221992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2258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Sohan Ghosh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2221992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22585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221992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22585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2624328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" y="266090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2624328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26609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Sayan Sarkar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2624328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0" y="26609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2624328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26609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FS08A0157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3026664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1752" y="30632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3026664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Debanjan Chakraborty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026664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40" y="306324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3026664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89520" y="306324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FS08A0154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3429000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1752" y="346557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429000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3465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Joydip Das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342900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2064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342900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8952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3831336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01752" y="3867912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3831336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3867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Aushi Sarkar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3831336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120640" y="3867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831336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0" y="38679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FS08A0288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" y="4233672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01752" y="4270248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" y="4233672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8680" y="4270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Anupam Dutta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4233672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20640" y="427024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34900323003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43800" y="4233672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89520" y="427024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FS08A0206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" y="4636008"/>
            <a:ext cx="5303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1752" y="467258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" y="4636008"/>
            <a:ext cx="4206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68680" y="46725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Bikkram Das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4920" y="4636008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120640" y="467258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43800" y="4636008"/>
            <a:ext cx="2423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589520" y="467258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FS08A0528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6032" y="5038344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1752" y="5074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" y="5038344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8680" y="5074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Biraj Sarkar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74920" y="5038344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20640" y="5074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543800" y="5038344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589520" y="507492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FS08A0239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1320" y="1417320"/>
            <a:ext cx="1508760" cy="4846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607040" y="148132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GUIDED BY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25328" y="18013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Dr. Palash Das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25328" y="2093976"/>
            <a:ext cx="137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FFFFFF"/>
                </a:solidFill>
              </a:rPr>
              <a:t>ECE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25328" y="23865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625328" y="267919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Mrs. Susmita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25328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Banik Barik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25328" y="32644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Proj. Eng., WTL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25328" y="355701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625328" y="3849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Mr. Arijit Bhunia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25328" y="41422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Proj. Co-ord.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25328" y="443484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625328" y="47274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Mr. Bhaskar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25328" y="50200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Mondal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25328" y="53126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Faculty, WTL</a:t>
            </a:r>
          </a:p>
        </p:txBody>
      </p:sp>
      <p:sp>
        <p:nvSpPr>
          <p:cNvPr id="106" name="Rectangle 100"/>
          <p:cNvSpPr/>
          <p:nvPr/>
        </p:nvSpPr>
        <p:spPr>
          <a:xfrm>
            <a:off x="256032" y="5440680"/>
            <a:ext cx="530352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2"/>
          <p:cNvSpPr/>
          <p:nvPr/>
        </p:nvSpPr>
        <p:spPr>
          <a:xfrm>
            <a:off x="822960" y="5440680"/>
            <a:ext cx="420624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4"/>
          <p:cNvSpPr/>
          <p:nvPr/>
        </p:nvSpPr>
        <p:spPr>
          <a:xfrm>
            <a:off x="5074920" y="544068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6"/>
          <p:cNvSpPr/>
          <p:nvPr/>
        </p:nvSpPr>
        <p:spPr>
          <a:xfrm>
            <a:off x="7543800" y="5440680"/>
            <a:ext cx="24231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1"/>
          <p:cNvSpPr txBox="1"/>
          <p:nvPr/>
        </p:nvSpPr>
        <p:spPr>
          <a:xfrm>
            <a:off x="301752" y="547725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111" name="TextBox 103"/>
          <p:cNvSpPr txBox="1"/>
          <p:nvPr/>
        </p:nvSpPr>
        <p:spPr>
          <a:xfrm>
            <a:off x="868680" y="54772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Soumyajit Pandit</a:t>
            </a:r>
          </a:p>
        </p:txBody>
      </p:sp>
      <p:sp>
        <p:nvSpPr>
          <p:cNvPr id="112" name="TextBox 105"/>
          <p:cNvSpPr txBox="1"/>
          <p:nvPr/>
        </p:nvSpPr>
        <p:spPr>
          <a:xfrm>
            <a:off x="5120640" y="5477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8C"/>
                </a:solidFill>
              </a:rPr>
              <a:t>34900323052</a:t>
            </a:r>
          </a:p>
        </p:txBody>
      </p:sp>
      <p:sp>
        <p:nvSpPr>
          <p:cNvPr id="113" name="TextBox 107"/>
          <p:cNvSpPr txBox="1"/>
          <p:nvPr/>
        </p:nvSpPr>
        <p:spPr>
          <a:xfrm>
            <a:off x="7589520" y="547725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2020"/>
                </a:solidFill>
              </a:rPr>
              <a:t>FS08A0189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What are we building and 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3/21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Design, fabricate &amp; program a fully functional 8-DOF Quadruped 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8366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Use affordable, open-source components and tools (ESP32 + FreeCAD + FDM printing)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042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0428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Core hardware: ESP32 microcontroller  |  PCA9685 16-ch servo driver  |  9× MG90S servos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249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24912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Chassis designed in FreeCAD — fabricated with FDM 3D printing (PLA+ &amp; PETG)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4553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45536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Hands-on experience across: Electronics  •  Mechanical Design  •  Additive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End goal: Robot capable of standing stably and executing a walking gait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867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86784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Future roadmap: Sensor integration → Autonomous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07408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Aligned with GoI skills development initiative under WTL &amp; MeitY programme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Introduction — What is a Quadruped Robot?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4/21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 legged mobile robot that moves on four limbs — mimicking dogs, horses, insects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938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Unlike wheeled robots, quadrupeds navigate uneven terrain, climb stairs, step over obstacles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000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Each leg has 2+ joints providing degrees of freedom for stable gait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70632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This robot: Hip joint + Knee joint per leg → 8 DOF for locomotion + 1 DOF head rotation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9125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Notable examples: Boston Dynamics Spot  •  Unitree Go1  •  University research platforms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8 DOF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Locomotion
(4 hips + 4 knees)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39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1 DOF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Head
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59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9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MG90S
Servos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4617720"/>
            <a:ext cx="2468880" cy="1600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3 Domains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28523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Electronics
Mechanical
3D Printing</a:t>
            </a:r>
          </a:p>
        </p:txBody>
      </p:sp>
      <p:pic>
        <p:nvPicPr>
          <p:cNvPr id="32" name="Picture 31" descr="our-bo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23771"/>
            <a:ext cx="3474720" cy="2609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Real-World Applications of Quadruped Robots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5/21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8132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🔍 Search &amp; Rescue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385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Navigates rubble, collapsed structures and disaster zones where wheels cannot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3580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108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⚙ Rough Terrain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4930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Pipeline inspection, mining surveys, and remote area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90288"/>
            <a:ext cx="5669280" cy="141732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🎖 Military / Defence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0474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Cargo carrying, reconnaissance missions, and hazardous environment scouting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48132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🏥 Medical / Rehab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385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Companion and assistive robots for elderly care and rehabilitation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3580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3108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🔬 Research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4930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Studying locomotion algorithms, control theory, and AI-based navigation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590288"/>
            <a:ext cx="5669280" cy="1417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4663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🏭 Industrial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0474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Automated factory floor inspection and infrastructure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Why ESP32?  &amp;  Why 3D Printing?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6/21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486400" cy="457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ESP32 — Central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Dual-core 240 MHz processor — powerful yet low-cost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95728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Built-in Wi-Fi &amp; Bluetooth for wireless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25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Supports I2C and SPI for peripheral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55263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55263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Well-supported Arduino IDE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85031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ESP32Servo library — direct servo control via PWM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Wireless capability → OTA updates, remote teleoperation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417320"/>
            <a:ext cx="5486400" cy="4572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3D Printing — Chassis Fabrication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96596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Rapid iteration on part dimensions without tooling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9572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95728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Customised mounting positions for every component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825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82549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Fabricate geometrically complex parts cheaply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55263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55263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PLA+ → structural rigidity for Core Plate &amp; Head 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850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685031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PETG → flexibility &amp; impact resistance for leg links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1148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11480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Entire robot chassis printed in the CGEC 3D Printing Lab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417320"/>
            <a:ext cx="54864" cy="50292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Development Roadmap — 9-Phase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From component verification to autonomous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7/21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Servo &amp;
MCU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19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CAD
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79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6265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3D
Printing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565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4281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Assembly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581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011680"/>
            <a:ext cx="1170432" cy="18288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2297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Standing
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011680"/>
            <a:ext cx="117043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03136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Walking
Gait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In Progress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6136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2011680"/>
            <a:ext cx="117043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8329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Turning
Gait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2011680"/>
            <a:ext cx="1170432" cy="182880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6345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345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Sensor
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Future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06455" y="2651760"/>
            <a:ext cx="128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07040" y="2011680"/>
            <a:ext cx="1170432" cy="182880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43615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43615" y="25146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Autonomous
Nav.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43615" y="33375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Future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160520"/>
            <a:ext cx="320040" cy="2743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Complete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4160520"/>
            <a:ext cx="3200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6616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 Progress / 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160520"/>
            <a:ext cx="320040" cy="274320"/>
          </a:xfrm>
          <a:prstGeom prst="rect">
            <a:avLst/>
          </a:prstGeom>
          <a:solidFill>
            <a:srgbClr val="C03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766560" y="4160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Future Roadmap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617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02020"/>
                </a:solidFill>
              </a:rPr>
              <a:t>📌  This report covers Phases 1–5 in detail.  Phases 6–9 form the future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Electronics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4-Layer electronics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8/21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6874795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1 — Central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745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ESP32 Dev Board  (I2C Master, Dual-core 240 MHz)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5000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50592"/>
            <a:ext cx="6874795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496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2 — Servo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6207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PCA9685  16-Channel PWM Driver  (I2C Slave @ 0x40)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3756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6874795" cy="8686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4838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3 — Actuators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4962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9× MG90S Metal Gear Micro Servos  (4 Hip + 4 Knee + 1 Head)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2511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25696"/>
            <a:ext cx="6874795" cy="868680"/>
          </a:xfrm>
          <a:prstGeom prst="rect">
            <a:avLst/>
          </a:prstGeom>
          <a:solidFill>
            <a:srgbClr val="27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47141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Layer 4 — Power Supply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External 5V Supply  →  PCA9685 V+ Servo Rail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463040"/>
            <a:ext cx="34290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490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ESP32 → PCA9685 Wiring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1874519"/>
            <a:ext cx="1709928" cy="329184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49840" y="1874519"/>
            <a:ext cx="1691640" cy="329184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1911095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ESP32 Pin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1911095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PCA9685 Pin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221991"/>
            <a:ext cx="17099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149840" y="2221991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22585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3.3V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225856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VCC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569463"/>
            <a:ext cx="1709928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149840" y="2569463"/>
            <a:ext cx="1691640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260603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606039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916936"/>
            <a:ext cx="17099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149840" y="2916936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58200" y="29535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GPIO21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953512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264408"/>
            <a:ext cx="1709928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149840" y="3264408"/>
            <a:ext cx="1691640" cy="3291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58200" y="33009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GPIO22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3300984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SCL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3035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2020"/>
                </a:solidFill>
              </a:rPr>
              <a:t>⚠  PCA9685 V+ rail MUST have
an external 5V supply (separate from VCC)</a:t>
            </a:r>
          </a:p>
        </p:txBody>
      </p:sp>
      <p:pic>
        <p:nvPicPr>
          <p:cNvPr id="49" name="Picture 48" descr="esp32_pca9685_wiring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12299"/>
            <a:ext cx="4152598" cy="2423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Servo Channel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PCA9685 CH0–CH8 → 9 MG90S servos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9/21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50876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146304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19" y="151790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Left 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1847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237743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33172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19" y="23865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Left Knee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7157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324612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20040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19" y="32552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Right 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84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79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" y="411479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4069079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17319" y="412394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Front Right Knee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45312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2336" y="498348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25880" y="493776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19" y="49926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Left 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532180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46304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150876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146304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60920" y="151790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Left Knee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1847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331720"/>
            <a:ext cx="9144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45936" y="237743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2331720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60920" y="238658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Right 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7157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28C"/>
                </a:solidFill>
              </a:rPr>
              <a:t>Type: 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200400"/>
            <a:ext cx="9144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45936" y="3246120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3200400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60920" y="32552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Rear Right Knee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58444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Type: Knee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4069079"/>
            <a:ext cx="914400" cy="749808"/>
          </a:xfrm>
          <a:prstGeom prst="rect">
            <a:avLst/>
          </a:prstGeom>
          <a:solidFill>
            <a:srgbClr val="27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45936" y="4114799"/>
            <a:ext cx="8412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CH8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4069079"/>
            <a:ext cx="466344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60920" y="4123943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Head Rotation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445312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7E4A"/>
                </a:solidFill>
              </a:rPr>
              <a:t>Type: Head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80"/>
            <a:ext cx="320040" cy="25603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Hip Servo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897880"/>
            <a:ext cx="320040" cy="25603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12724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Knee Servo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5897880"/>
            <a:ext cx="320040" cy="256032"/>
          </a:xfrm>
          <a:prstGeom prst="rect">
            <a:avLst/>
          </a:prstGeom>
          <a:solidFill>
            <a:srgbClr val="27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04688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Head Servo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Critical Discovery — Servo Power Rail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Real-world debugging experience during 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10/21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22860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572768"/>
            <a:ext cx="2176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⚠  SYMPTOM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44752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517904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All 9 servos were completely unresponsive when controlled via PCA9685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40864"/>
            <a:ext cx="2286000" cy="74980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468880"/>
            <a:ext cx="2176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🔍  I2C DIAGNOSIS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340864"/>
            <a:ext cx="9189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2414016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I2C scanner confirmed PCA9685 at address 0x40 — ESP32, I2C bus, and chip all functioning correctly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36976"/>
            <a:ext cx="2286000" cy="749808"/>
          </a:xfrm>
          <a:prstGeom prst="rect">
            <a:avLst/>
          </a:prstGeom>
          <a:solidFill>
            <a:srgbClr val="B8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364992"/>
            <a:ext cx="2176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🔎  ROOT CAUSE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236976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3310128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V+ rail measured only 0.10 V (expected 4.8–5.2 V) — servo power rail NOT connected to external 5V supply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33087"/>
            <a:ext cx="22860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261103"/>
            <a:ext cx="2176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RESOLUTION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133087"/>
            <a:ext cx="9189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206240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Connected 5V directly to PCA9685 V+ terminal → Servos responded immediately. V+ measured 4.92–5.05 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29200"/>
            <a:ext cx="2286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5157216"/>
            <a:ext cx="21762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📖  LESSON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029200"/>
            <a:ext cx="91897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0" y="5102352"/>
            <a:ext cx="9006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Always verify servo rail voltage FIRST before suspecting firmware or I2C communication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Mechanical Architecture &amp; Component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FreeCAD-designed chassis — all parts 3D printed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11/21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66928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Structural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7451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Two main assemblies: Head Box (electronics enclosure) + Core Plate (central chassis)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Head Box — houses ESP32, PCA9685, power switch + future sensor mount provision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79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974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Core Plate — mounts all 4 hip servos + 1 head servo (5 total on chassis)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Each leg: Upper Leg (hip-driven) + Lower Leg (knee-driven) → 2 links per leg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5743924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1444752"/>
            <a:ext cx="5157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Component Dimensions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47088"/>
            <a:ext cx="196596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1892807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47088"/>
            <a:ext cx="1600200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1892807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Dimensions (mm)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1847088"/>
            <a:ext cx="2086325" cy="402336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30384" y="1892807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276856"/>
            <a:ext cx="1965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72783" y="2322576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Core Plate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276856"/>
            <a:ext cx="1600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232257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110 × 85 ×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19" y="2276856"/>
            <a:ext cx="208632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0384" y="2322576"/>
            <a:ext cx="18012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4 hip mounts + 1 head servo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06624"/>
            <a:ext cx="19659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72783" y="2752344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Head 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706624"/>
            <a:ext cx="160020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4464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85 × 65 × 45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2706624"/>
            <a:ext cx="2086325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30384" y="2752344"/>
            <a:ext cx="20314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Wall 2.5 mm — ESP32, PCA9685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136391"/>
            <a:ext cx="1965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2783" y="318211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Upper Leg ×4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136391"/>
            <a:ext cx="1600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84464" y="3182111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45 × 10 × 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136391"/>
            <a:ext cx="20863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3182111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PETG — hip servo driven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566160"/>
            <a:ext cx="196596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72783" y="3611879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Lower Leg ×4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566160"/>
            <a:ext cx="1600200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84464" y="3611879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55 × 10 ×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3566160"/>
            <a:ext cx="2086325" cy="402336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930384" y="3611879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PETG — knee servo driven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995927"/>
            <a:ext cx="19659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72783" y="4041647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Servo Mount×9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995927"/>
            <a:ext cx="1600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84464" y="4041647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Custom press-fit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3995927"/>
            <a:ext cx="208632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0384" y="4041647"/>
            <a:ext cx="18836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PLA+ — MG90S body fit</a:t>
            </a:r>
          </a:p>
        </p:txBody>
      </p:sp>
      <p:pic>
        <p:nvPicPr>
          <p:cNvPr id="59" name="Picture 58" descr="quadruped_robot_blue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11879"/>
            <a:ext cx="4572000" cy="26106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FreeCAD Design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Part Design workbench — parametric modelling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12/21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737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46304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1517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Core 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8366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 110×85×4 mm plate with 4 symmetric hip servo pockets and central head servo 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" y="2926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651760"/>
            <a:ext cx="5166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270662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Head Servo 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Centred on Core Plate; controls head rotation via MG90S (CH8)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4114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84048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389534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Hip Servo Mounts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26110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Four symmetric press-fit pockets at FL, FR, RL, RR corners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2920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" y="53035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5029200"/>
            <a:ext cx="5166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08406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Upper Leg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449824"/>
            <a:ext cx="4983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45 mm </a:t>
            </a:r>
            <a:r>
              <a:rPr lang="en-US" sz="1100" b="0" i="0" dirty="0">
                <a:solidFill>
                  <a:srgbClr val="1A1A2E"/>
                </a:solidFill>
              </a:rPr>
              <a:t>PLA</a:t>
            </a:r>
            <a:r>
              <a:rPr sz="1100" b="0" i="0" dirty="0">
                <a:solidFill>
                  <a:srgbClr val="1A1A2E"/>
                </a:solidFill>
              </a:rPr>
              <a:t> link with servo horn connection hole at proximal 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46304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17373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146304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15179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Lower Leg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883664"/>
            <a:ext cx="4983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</a:rPr>
              <a:t>55 mm </a:t>
            </a:r>
            <a:r>
              <a:rPr lang="en-US" sz="1100" b="0" i="0" dirty="0">
                <a:solidFill>
                  <a:srgbClr val="1A1A2E"/>
                </a:solidFill>
              </a:rPr>
              <a:t>PLA</a:t>
            </a:r>
            <a:r>
              <a:rPr sz="1100" b="0" i="0" dirty="0">
                <a:solidFill>
                  <a:srgbClr val="1A1A2E"/>
                </a:solidFill>
              </a:rPr>
              <a:t> link with foot pad boss at distal (terminal) 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5176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91656" y="29260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2651760"/>
            <a:ext cx="5166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270662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Head 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Enclosure designed around ESP32 and PCA9685 PCB footprints (85×65×45 mm)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840480"/>
            <a:ext cx="548640" cy="102412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91656" y="4114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840480"/>
            <a:ext cx="5166360" cy="10241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389534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Assembly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26110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All bodies assembled in FreeCAD Assembly with correct spacing and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3D Printing Process — FDM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CAD → STL → G-code → 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13/21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1521440" cy="6400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Fused Deposition Modelling (FDM): thermoplastic filament melted &amp; deposited layer-by-layer | Workflow: CAD Model → STL Export → Slicer (G-code) → 3D Printer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553212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176272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Material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06040"/>
            <a:ext cx="1097280" cy="8046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7889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PLA+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606040"/>
            <a:ext cx="438912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264261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Core Plate, Head Box, Servo Mounts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2666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 stiffness, low warping, easy to print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38728"/>
            <a:ext cx="1097280" cy="8046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72160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</a:rPr>
              <a:t>PETG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538728"/>
            <a:ext cx="4389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357530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Upper Leg, Lower Leg (×4 each)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593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Toughness &amp; flexibility for repeated bending/impact 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48840"/>
            <a:ext cx="56235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1928" y="217627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Slicer 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78608"/>
            <a:ext cx="3383280" cy="36576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46920" y="2578608"/>
            <a:ext cx="2194560" cy="36576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91072" y="2624327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624327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962656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46920" y="2962656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3008375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Layer Height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3008375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0.2 mm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346703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46920" y="3346703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1072" y="3392423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Infill Density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3392423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40%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30752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646920" y="3730752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1072" y="377647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Perimeter Walls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3776472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114800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46920" y="4114800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41605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Nozzle Diameter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160520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0.4 mm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498848"/>
            <a:ext cx="3383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46920" y="4498848"/>
            <a:ext cx="2194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91072" y="454456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Print Speed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0928" y="4544568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50 mm/s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882896"/>
            <a:ext cx="338328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46920" y="4882896"/>
            <a:ext cx="219456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91072" y="492861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4928616"/>
            <a:ext cx="20665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As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3D Printing in the Lab</a:t>
            </a:r>
          </a:p>
        </p:txBody>
      </p:sp>
      <p:sp>
        <p:nvSpPr>
          <p:cNvPr id="120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Fabrication of quadruped robot components at CGEC 3D Printing Lab</a:t>
            </a:r>
          </a:p>
        </p:txBody>
      </p:sp>
      <p:sp>
        <p:nvSpPr>
          <p:cNvPr id="121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22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14/21</a:t>
            </a:r>
          </a:p>
        </p:txBody>
      </p:sp>
      <p:pic>
        <p:nvPicPr>
          <p:cNvPr id="123" name="Picture 122" descr="fig 1.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402336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576072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1A1A2E"/>
                </a:solidFill>
              </a:rPr>
              <a:t>3D Printer (FDM) in the CGEC Lab during fabrication of the Core Plate and Head Box using </a:t>
            </a:r>
            <a:r>
              <a:rPr lang="en-US" sz="1100" dirty="0">
                <a:solidFill>
                  <a:srgbClr val="1A1A2E"/>
                </a:solidFill>
              </a:rPr>
              <a:t>ABS.</a:t>
            </a:r>
            <a:endParaRPr sz="1100" dirty="0">
              <a:solidFill>
                <a:srgbClr val="1A1A2E"/>
              </a:solidFill>
            </a:endParaRPr>
          </a:p>
        </p:txBody>
      </p:sp>
      <p:pic>
        <p:nvPicPr>
          <p:cNvPr id="125" name="Picture 124" descr="fig1.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66074"/>
            <a:ext cx="4754880" cy="4003206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6537960" y="5760720"/>
            <a:ext cx="4754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/>
              <a:t>Fabricated leg components (Upper and Lower leg segments) printed in magenta </a:t>
            </a:r>
            <a:r>
              <a:rPr lang="en-US" sz="1100" dirty="0"/>
              <a:t>PLA+</a:t>
            </a:r>
            <a:r>
              <a:rPr sz="1100" dirty="0"/>
              <a:t> for high layer adhesion and impact strength.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Products Made — 3D Printed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19 total printed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15/21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146304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59" y="149047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463040"/>
            <a:ext cx="13716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74519" y="149047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463040"/>
            <a:ext cx="178308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39" y="1490472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463040"/>
            <a:ext cx="5943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490472"/>
            <a:ext cx="521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0" y="1463040"/>
            <a:ext cx="617220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1490472"/>
            <a:ext cx="6099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92807"/>
            <a:ext cx="146304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198424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Core 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1892807"/>
            <a:ext cx="13716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3664" y="198424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C02020"/>
                </a:solidFill>
              </a:rPr>
              <a:t>ABS</a:t>
            </a:r>
            <a:endParaRPr sz="1200" b="0" i="0" dirty="0">
              <a:solidFill>
                <a:srgbClr val="C0202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46120" y="1892807"/>
            <a:ext cx="178308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00984" y="1984248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110×85×4 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892807"/>
            <a:ext cx="59436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9783" y="198424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892807"/>
            <a:ext cx="61722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9864" y="1984248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Central chassis; 4 hip mounts + 1 head servo mount; 4mm thickness for bending rigidity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61487"/>
            <a:ext cx="14630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" y="2852927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Head Box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2761487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83664" y="285292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C02020"/>
                </a:solidFill>
              </a:rPr>
              <a:t>ABS</a:t>
            </a:r>
            <a:endParaRPr sz="1200" b="0" i="0" dirty="0">
              <a:solidFill>
                <a:srgbClr val="C0202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46120" y="2761487"/>
            <a:ext cx="17830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00984" y="2852927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85×65×45 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2761487"/>
            <a:ext cx="5943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9783" y="2852927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2761487"/>
            <a:ext cx="6172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9864" y="2852927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Electronics enclosure for ESP32, PCA9685 &amp; power switch; 2.5mm walls; future sensor provision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630168"/>
            <a:ext cx="146304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3721607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Upper Leg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3630168"/>
            <a:ext cx="13716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83664" y="372160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76B47"/>
                </a:solidFill>
              </a:rPr>
              <a:t>PLA+</a:t>
            </a:r>
            <a:endParaRPr sz="1200" b="0" i="0" dirty="0">
              <a:solidFill>
                <a:srgbClr val="176B47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246120" y="3630168"/>
            <a:ext cx="178308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3721607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45×10×5 mm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630168"/>
            <a:ext cx="59436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9783" y="3721607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3630168"/>
            <a:ext cx="61722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9864" y="3721607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Hip-servo driven link; servo horn attachment hole at proximal end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498848"/>
            <a:ext cx="14630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" y="459028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Lower Leg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4498848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83664" y="4590288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176B47"/>
                </a:solidFill>
              </a:rPr>
              <a:t>PLA+</a:t>
            </a:r>
            <a:endParaRPr sz="1200" b="0" i="0" dirty="0">
              <a:solidFill>
                <a:srgbClr val="176B47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46120" y="4498848"/>
            <a:ext cx="17830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00984" y="4590288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55×10×5 mm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4498848"/>
            <a:ext cx="5943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29783" y="4590288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4498848"/>
            <a:ext cx="6172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69864" y="4590288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Knee-servo driven link; foot pad boss at distal terminal end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367527"/>
            <a:ext cx="146304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4904" y="5458967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Servo Mount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5367527"/>
            <a:ext cx="13716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83664" y="5458967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C02020"/>
                </a:solidFill>
              </a:rPr>
              <a:t>ABS</a:t>
            </a:r>
            <a:endParaRPr sz="1200" b="0" i="0" dirty="0">
              <a:solidFill>
                <a:srgbClr val="C0202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246120" y="5367527"/>
            <a:ext cx="178308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00984" y="5458967"/>
            <a:ext cx="1691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Custom fit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4920" y="5367527"/>
            <a:ext cx="59436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129783" y="5458967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15000" y="5367527"/>
            <a:ext cx="6172200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9864" y="5458967"/>
            <a:ext cx="6080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Press-fit housing for MG90S servo body; one per servo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Arduino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Arduino IDE + ESP32 board support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16/21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30352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Environment &amp; Libraries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929384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ESP32Servo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74519"/>
            <a:ext cx="2971800" cy="5669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94767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Direct servo control via GPIO PWM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32887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587752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532887"/>
            <a:ext cx="2971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4912" y="2606039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I2C communication for PCA9685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91256"/>
            <a:ext cx="228600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3246120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Adafruit_PWMServoDriver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191256"/>
            <a:ext cx="2971800" cy="5669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24912" y="326440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High-level PCA9685 servo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530352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405079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 Listings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80560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4507992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4480560"/>
            <a:ext cx="416052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36192" y="4507992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Servo Test Code:  Direct GPIO18 sweep — 0° → 90° → 180° per servo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10328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4937759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4910328"/>
            <a:ext cx="4160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36192" y="4937759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PCA9685 I2C Scanner:  Scans I2C bus, confirms address 0x40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340096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5367527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5340096"/>
            <a:ext cx="4160520" cy="3657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6192" y="5367527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I2C Scan Output:  Expected serial monitor: 'I2C device found at 0x40'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69864"/>
            <a:ext cx="1097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5797296"/>
            <a:ext cx="1051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Listing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3040" y="5769864"/>
            <a:ext cx="4160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36192" y="5797296"/>
            <a:ext cx="40050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PCA9685 Servo Control:  All-channel sweep through Adafruit PWM library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1417320"/>
            <a:ext cx="5833872" cy="4846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1463040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9F55"/>
                </a:solidFill>
                <a:latin typeface="Consolas"/>
              </a:rPr>
              <a:t>// Servo Test Code — ESP32 direct GPIO18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874519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786B"/>
                </a:solidFill>
                <a:latin typeface="Consolas"/>
              </a:rPr>
              <a:t>#include &lt;ESP32Servo.h&gt;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217627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44768" y="24780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CBFF"/>
                </a:solidFill>
                <a:latin typeface="Consolas"/>
              </a:rPr>
              <a:t>Servo myServo;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27797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44768" y="308152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void setup()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338328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myServo.attach(18);  // GPIO18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44768" y="368503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3986783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44768" y="428853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void loop() {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459028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myServo.write(0);    delay(1000);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48920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onsolas"/>
              </a:rPr>
              <a:t>  myServo.write(90);   delay(1000);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519379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CCCC"/>
                </a:solidFill>
                <a:latin typeface="Consolas"/>
              </a:rPr>
              <a:t>  </a:t>
            </a:r>
            <a:r>
              <a:rPr sz="1100" b="0" i="0" dirty="0" err="1">
                <a:solidFill>
                  <a:srgbClr val="CCCCCC"/>
                </a:solidFill>
                <a:latin typeface="Consolas"/>
              </a:rPr>
              <a:t>myServo.write</a:t>
            </a:r>
            <a:r>
              <a:rPr sz="1100" b="0" i="0" dirty="0">
                <a:solidFill>
                  <a:srgbClr val="CCCCCC"/>
                </a:solidFill>
                <a:latin typeface="Consolas"/>
              </a:rPr>
              <a:t>(180);  delay(1000);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54955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A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Results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I2C verification  ·  Power rail  ·  All-servo sweep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17/21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394960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447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I2C Communication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562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2020"/>
                </a:solidFill>
              </a:rPr>
              <a:t>PCA9685 confirmed at address 0x40 via I2C 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585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Full chain validated: ESP32 → GPIO21/22 → SDA/SCL → PCA9685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88920"/>
            <a:ext cx="5394960" cy="38404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816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Power Rail Diagnosis &amp;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020"/>
                </a:solidFill>
              </a:rPr>
              <a:t>Before fix:  V+ = 0.10 V  (expected 4.8–5.2 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621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After fix:   V+ = 4.92–5.05 V  →  All servos responded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417320"/>
            <a:ext cx="5833872" cy="384048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444752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Individual Servo Test Results (All 9 Passed)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47088"/>
            <a:ext cx="475488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1874519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847088"/>
            <a:ext cx="3291840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1874519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7232" y="1847088"/>
            <a:ext cx="768096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7" y="187451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2760" y="1847088"/>
            <a:ext cx="768096" cy="347472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9336" y="1874519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180°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231136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71616" y="228600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2231136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2824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Left Hip (CH0)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57232" y="2231136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93807" y="228600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2231136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89336" y="228600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51760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71616" y="270662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65176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92824" y="2706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Left Knee (CH1)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7232" y="2651760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93807" y="27066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52760" y="2651760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89336" y="270662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072384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71616" y="312724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072384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92824" y="3127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Right Hip (CH2)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57232" y="3072384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93807" y="31272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52760" y="3072384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89336" y="312724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493008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71616" y="354787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3493008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92824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Front Right Knee (CH3)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57232" y="3493008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93807" y="354787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3493008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89336" y="354787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3913632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71616" y="3968496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913632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92824" y="39684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Left Hip (CH4)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57232" y="3913632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893807" y="39684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52760" y="3913632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689336" y="3968496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4334256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71616" y="438912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4334256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92824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Left Knee (CH5)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57232" y="4334256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93807" y="43891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52760" y="4334256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689336" y="4389120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754880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71616" y="4809744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4754880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92824" y="48097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Right Hip (CH6)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57232" y="4754880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93807" y="480974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4754880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689336" y="4809744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35040" y="5175504"/>
            <a:ext cx="47548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71616" y="5230368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37960" y="5175504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2824" y="5230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Rear Right Knee (CH7)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57232" y="5175504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893807" y="52303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52760" y="5175504"/>
            <a:ext cx="768096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689336" y="5230368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40" y="5596128"/>
            <a:ext cx="475488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071616" y="5650992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37960" y="5596128"/>
            <a:ext cx="3291840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592824" y="5650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Head Rotation (CH8)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57232" y="5596128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893807" y="565099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652760" y="5596128"/>
            <a:ext cx="768096" cy="3840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689336" y="5650992"/>
            <a:ext cx="713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8B4C"/>
                </a:solidFill>
              </a:rPr>
              <a:t>✓ 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Development Phase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Current progress across all 9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18/21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62763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1463040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1638335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Component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7" y="1463040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4000" y="169219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59152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52374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359152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7" y="2534447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CAD Design in FreeCAD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359152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4000" y="2588306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55264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4198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" y="3255264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7" y="3430559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3D Printing All Parts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7" y="3255264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4000" y="3484418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51376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431596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" y="4151376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7" y="432667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Servo Calibration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7" y="4151376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4000" y="4380530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047488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5212079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" y="5047488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7" y="5222783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Standing Pose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7" y="5047488"/>
            <a:ext cx="1371600" cy="7498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64000" y="5276642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1463040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162763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85431" y="1463040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67727" y="1638335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Walking Gait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25328" y="1463040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53319" y="169219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2359152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52374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5431" y="2359152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67727" y="2534447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Turning Gait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25328" y="2359152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53319" y="2588306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3255264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341985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85431" y="3255264"/>
            <a:ext cx="3703320" cy="74980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67727" y="3430559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Sensor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25328" y="3255264"/>
            <a:ext cx="13716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53319" y="3484418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59" y="4151376"/>
            <a:ext cx="530352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431596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85431" y="4151376"/>
            <a:ext cx="3703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67727" y="4326671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D2B55"/>
                </a:solidFill>
              </a:rPr>
              <a:t>Autonomous Navigation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25328" y="4151376"/>
            <a:ext cx="1371600" cy="7498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653319" y="4380530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989320"/>
            <a:ext cx="1152144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20040" y="5989320"/>
            <a:ext cx="6400800" cy="5029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09160" y="6100354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55% Complete  (5 of 9 Phases)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518"/>
                </a:solidFill>
              </a:rPr>
              <a:t>Key achievements and future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19/21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81328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749933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5C518"/>
                </a:solidFill>
              </a:rPr>
              <a:t>Electronics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81328"/>
            <a:ext cx="9189720" cy="868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640205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Systematic debugging validated: I2C chain, servo power rail fix, all 9 servos operational across full 0°–180°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05456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774061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Mechanical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505456"/>
            <a:ext cx="9189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0" y="2664333"/>
            <a:ext cx="9006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Parametric FreeCAD CAD workflow mastered: servo mounts, press-fit tolerances, STL export → design-for-manufacture skills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29584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798189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3D Printing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529584"/>
            <a:ext cx="9189720" cy="868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3688461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Hands-on material selection (PLA+</a:t>
            </a:r>
            <a:r>
              <a:rPr lang="en-US" sz="1400" b="0" i="0" dirty="0">
                <a:solidFill>
                  <a:srgbClr val="1A1A2E"/>
                </a:solidFill>
              </a:rPr>
              <a:t>, </a:t>
            </a:r>
            <a:r>
              <a:rPr sz="1400" b="0" i="0" dirty="0">
                <a:solidFill>
                  <a:srgbClr val="1A1A2E"/>
                </a:solidFill>
              </a:rPr>
              <a:t>PETG</a:t>
            </a:r>
            <a:r>
              <a:rPr lang="en-US" sz="1400" b="0" i="0" dirty="0">
                <a:solidFill>
                  <a:srgbClr val="1A1A2E"/>
                </a:solidFill>
              </a:rPr>
              <a:t> &amp; ABS</a:t>
            </a:r>
            <a:r>
              <a:rPr sz="1400" b="0" i="0" dirty="0">
                <a:solidFill>
                  <a:srgbClr val="1A1A2E"/>
                </a:solidFill>
              </a:rPr>
              <a:t>), slicer optimization, and print quality assessment in CGEC 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53712"/>
            <a:ext cx="2286000" cy="86868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822317"/>
            <a:ext cx="2176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</a:rPr>
              <a:t>Overall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553712"/>
            <a:ext cx="9189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712589"/>
            <a:ext cx="9006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Fully functional 8-DOF quadruped hardware + software stack built — validated foundation for walking gait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77840"/>
            <a:ext cx="1152144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5680317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Roadmap:  Phase 6 Walking Gait (IK)  →  Phase 7 Turning  →  Phase 8 Sensors  →  Phase 9 Autonomous Navigation via ESP32 Wi-Fi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98448"/>
            <a:ext cx="12188952" cy="5559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14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CCDD"/>
                </a:solidFill>
              </a:rPr>
              <a:t>Quadruped Robot Development  |  Group-E  |  ECE Dept., CGEC  |  WTL &amp; MeitY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C518"/>
                </a:solidFill>
              </a:rPr>
              <a:t>20/21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664207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50876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169575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Previous Batch Project Report — 3D Printing and Embedded Systems, CGEC Dept. of ECE, WTL &amp; MeitY Project, Cooch Behar, West Bengal, 202</a:t>
            </a:r>
            <a:r>
              <a:rPr lang="en-US" sz="1400" b="0" i="0" dirty="0">
                <a:solidFill>
                  <a:srgbClr val="1A1A2E"/>
                </a:solidFill>
              </a:rPr>
              <a:t>4</a:t>
            </a:r>
            <a:endParaRPr sz="1400" b="0" i="0" dirty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48716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331720"/>
            <a:ext cx="10744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251871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A1A2E"/>
                </a:solidFill>
              </a:rPr>
              <a:t>Espressif</a:t>
            </a:r>
            <a:r>
              <a:rPr sz="1400" b="0" i="0" dirty="0">
                <a:solidFill>
                  <a:srgbClr val="1A1A2E"/>
                </a:solidFill>
              </a:rPr>
              <a:t> Systems, ESP32 Technical Reference Manual, v5.3, </a:t>
            </a:r>
            <a:r>
              <a:rPr sz="1400" b="0" i="0" dirty="0" err="1">
                <a:solidFill>
                  <a:srgbClr val="1A1A2E"/>
                </a:solidFill>
              </a:rPr>
              <a:t>Espressif</a:t>
            </a:r>
            <a:r>
              <a:rPr sz="1400" b="0" i="0" dirty="0">
                <a:solidFill>
                  <a:srgbClr val="1A1A2E"/>
                </a:solidFill>
              </a:rPr>
              <a:t> Systems,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8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331012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5468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34167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NXP Semiconductors, PCA9685 16-channel 12-bit PWM I2C-bus LED controller, Product datasheet Rev. 4, NXP, 2015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4133087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977639"/>
            <a:ext cx="10744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4638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Tower Pro, MG90S Metal Gear Micro Servo Datasheet, Tower Pro Co. Ltd., 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00600"/>
            <a:ext cx="731520" cy="6858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956048"/>
            <a:ext cx="676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[5]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800600"/>
            <a:ext cx="10744200" cy="6858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987599"/>
            <a:ext cx="10561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1A2E"/>
                </a:solidFill>
              </a:rPr>
              <a:t>FreeCAD Community, FreeCAD: Your Own 3D Parametric Modeler, https://www.freecad.org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94392" cy="3200400"/>
          </a:xfrm>
          <a:prstGeom prst="rect">
            <a:avLst/>
          </a:prstGeom>
          <a:solidFill>
            <a:srgbClr val="1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" y="1874519"/>
            <a:ext cx="9902952" cy="310896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9601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2020"/>
                </a:solidFill>
              </a:rPr>
              <a:t>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C518"/>
                </a:solidFill>
              </a:rPr>
              <a:t>Quadruped Robot Development  |  Group-E  |  CGEC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490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WTL &amp; MeitY Industrial Training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Guided by:  Dr. Palash Das  ·  Mrs. Susmita Banik Barik  ·  Mr. Arijit Bhunia  ·  Mr. Bhaskar Mondal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2555</Words>
  <Application>Microsoft Office PowerPoint</Application>
  <PresentationFormat>Custom</PresentationFormat>
  <Paragraphs>538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Biraj Sarkar</cp:lastModifiedBy>
  <cp:revision>10</cp:revision>
  <dcterms:created xsi:type="dcterms:W3CDTF">2013-01-27T09:14:16Z</dcterms:created>
  <dcterms:modified xsi:type="dcterms:W3CDTF">2026-06-09T19:54:38Z</dcterms:modified>
  <cp:category/>
</cp:coreProperties>
</file>